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De una cuadrícula de números a bordes y formas:
píxeles, filtros, convolución y un detector de bordes.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AIMA, visión por computadora  ·  filtro local  ·  Sobel 1968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2 / </a:t>
            </a:r>
            <a:r>
              <a:rPr lang="es-419" sz="1100" dirty="0">
                <a:solidFill>
                  <a:srgbClr val="FFFFFF"/>
                </a:solidFill>
                <a:latin typeface="Calibri"/>
              </a:rPr>
              <a:t>13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La imagen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Una matriz de intensidades. Color = tres canales. La cámara es un sensor de luz.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Filtros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Cada píxel nuevo es una mezcla de su vecindario. Eso es una convolución.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Bordes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 borde es un salto de intensidad. Sobel estima ese salto.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3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tiene que hacer la visión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mundo no llega como «círculo» o «caja»: llega como una tabla de números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5669280" cy="4709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2578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 humano nombra objetos. Un programa recibe I[i, j].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Tarea típica: decir qué hay, dónde está, o cómo se mueve.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Primero: medir luz. Después: cambios (bordes). Luego: agrupar y reconocer.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 la derecha: una escena inventada. Solo hay gris más claro y más oscuro.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resto de la clase es cómo pasar de esa cuadrícula a un contorno.</a:t>
            </a:r>
          </a:p>
        </p:txBody>
      </p:sp>
      <p:pic>
        <p:nvPicPr>
          <p:cNvPr id="12" name="Picture 11" descr="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53312"/>
            <a:ext cx="445121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4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 píxel es un número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Fila i, columna j, intensidad. Aquí usamos 0–9 para poder multiplicar a mano; en un archivo suele ser 0–255</a:t>
            </a:r>
          </a:p>
        </p:txBody>
      </p:sp>
      <p:pic>
        <p:nvPicPr>
          <p:cNvPr id="10" name="Picture 9" descr="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4465944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I[i, j] = cuánta luz llegó a esa celda del sensor.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0 = oscuro, 9 = claro (en este parche).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La «E» no está en los datos: es un patrón que tú ves.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Resolución: más filas y columnas, más detalle, más números.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Tratar la imagen como una lista de píxeles sueltos pierde el vecindario. Los filtros no lo hacen.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5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Color: tres imágenes en una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dirty="0">
                <a:solidFill>
                  <a:srgbClr val="5D6D7E"/>
                </a:solidFill>
                <a:latin typeface="Calibri"/>
              </a:rPr>
              <a:t>R, G, B son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intensidades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en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tres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sensores</a:t>
            </a:r>
            <a:r>
              <a:rPr b="0" dirty="0">
                <a:solidFill>
                  <a:srgbClr val="5D6D7E"/>
                </a:solidFill>
                <a:latin typeface="Calibri"/>
              </a:rPr>
              <a:t>. El color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que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ves</a:t>
            </a:r>
            <a:r>
              <a:rPr b="0" dirty="0">
                <a:solidFill>
                  <a:srgbClr val="5D6D7E"/>
                </a:solidFill>
                <a:latin typeface="Calibri"/>
              </a:rPr>
              <a:t> es la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mezcla</a:t>
            </a:r>
            <a:endParaRPr b="0" dirty="0">
              <a:solidFill>
                <a:srgbClr val="5D6D7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444578"/>
            <a:ext cx="3516187" cy="3046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dirty="0">
                <a:solidFill>
                  <a:srgbClr val="2C3E50"/>
                </a:solidFill>
                <a:latin typeface="Calibri"/>
              </a:rPr>
              <a:t>Un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píxel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en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color es un</a:t>
            </a:r>
            <a:r>
              <a:rPr lang="es-419" sz="2400" b="0" dirty="0">
                <a:solidFill>
                  <a:srgbClr val="2C3E50"/>
                </a:solidFill>
                <a:latin typeface="Calibri"/>
              </a:rPr>
              <a:t>a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triple</a:t>
            </a:r>
            <a:r>
              <a:rPr lang="es-419" sz="2400" b="0" dirty="0">
                <a:solidFill>
                  <a:srgbClr val="2C3E50"/>
                </a:solidFill>
                <a:latin typeface="Calibri"/>
              </a:rPr>
              <a:t>ta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(R, G, B), no un solo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número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. </a:t>
            </a:r>
            <a:endParaRPr lang="es-419" sz="2400" b="0" dirty="0">
              <a:solidFill>
                <a:srgbClr val="2C3E50"/>
              </a:solidFill>
              <a:latin typeface="Calibri"/>
            </a:endParaRPr>
          </a:p>
          <a:p>
            <a:pPr algn="l"/>
            <a:endParaRPr lang="es-MX" sz="240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400" b="0" dirty="0">
                <a:solidFill>
                  <a:srgbClr val="2C3E50"/>
                </a:solidFill>
                <a:latin typeface="Calibri"/>
              </a:rPr>
              <a:t>Casi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todos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los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filtros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se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aplican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por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canal, o a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una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versión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en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gris (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promedio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de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los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2C3E50"/>
                </a:solidFill>
                <a:latin typeface="Calibri"/>
              </a:rPr>
              <a:t>tres</a:t>
            </a:r>
            <a:r>
              <a:rPr sz="2400" b="0" dirty="0">
                <a:solidFill>
                  <a:srgbClr val="2C3E50"/>
                </a:solidFill>
                <a:latin typeface="Calibri"/>
              </a:rPr>
              <a:t>).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8BBBA62-1E96-6030-8FB6-1E409E948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433" y="1684835"/>
            <a:ext cx="4549168" cy="45582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6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De la luz al número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dirty="0">
                <a:solidFill>
                  <a:srgbClr val="5D6D7E"/>
                </a:solidFill>
                <a:latin typeface="Calibri"/>
              </a:rPr>
              <a:t>Sin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modelo</a:t>
            </a:r>
            <a:r>
              <a:rPr b="0" dirty="0">
                <a:solidFill>
                  <a:srgbClr val="5D6D7E"/>
                </a:solidFill>
                <a:latin typeface="Calibri"/>
              </a:rPr>
              <a:t> de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cámara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complicado</a:t>
            </a:r>
            <a:r>
              <a:rPr b="0" dirty="0">
                <a:solidFill>
                  <a:srgbClr val="5D6D7E"/>
                </a:solidFill>
                <a:latin typeface="Calibri"/>
              </a:rPr>
              <a:t>: un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agujero</a:t>
            </a:r>
            <a:r>
              <a:rPr b="0" dirty="0">
                <a:solidFill>
                  <a:srgbClr val="5D6D7E"/>
                </a:solidFill>
                <a:latin typeface="Calibri"/>
              </a:rPr>
              <a:t>,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rayos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en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línea</a:t>
            </a:r>
            <a:r>
              <a:rPr b="0" dirty="0">
                <a:solidFill>
                  <a:srgbClr val="5D6D7E"/>
                </a:solidFill>
                <a:latin typeface="Calibri"/>
              </a:rPr>
              <a:t> recta, un sensor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que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cuenta</a:t>
            </a:r>
            <a:r>
              <a:rPr b="0" dirty="0">
                <a:solidFill>
                  <a:srgbClr val="5D6D7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D6D7E"/>
                </a:solidFill>
                <a:latin typeface="Calibri"/>
              </a:rPr>
              <a:t>fotones</a:t>
            </a:r>
            <a:endParaRPr b="0" dirty="0">
              <a:solidFill>
                <a:srgbClr val="5D6D7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172802"/>
            <a:ext cx="3303536" cy="34778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2C3E50"/>
                </a:solidFill>
                <a:latin typeface="Calibri"/>
              </a:rPr>
              <a:t>El sensor es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otra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cuadrícula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cada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celda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acumula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luz un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tiempo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(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exposición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). Si hay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poca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luz,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los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números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son chicos y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ruidosos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.</a:t>
            </a:r>
            <a:endParaRPr lang="es-419" sz="2000" b="0" dirty="0">
              <a:solidFill>
                <a:srgbClr val="2C3E50"/>
              </a:solidFill>
              <a:latin typeface="Calibri"/>
            </a:endParaRPr>
          </a:p>
          <a:p>
            <a:pPr algn="l"/>
            <a:endParaRPr lang="es-MX" sz="200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000" b="0" dirty="0">
                <a:solidFill>
                  <a:srgbClr val="2C3E50"/>
                </a:solidFill>
                <a:latin typeface="Calibri"/>
              </a:rPr>
              <a:t>La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geometría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(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quién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tapa a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quién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qué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tan grande se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)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ya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está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en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I; no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hace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falta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reconstruir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el 3D para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detectar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 un </a:t>
            </a:r>
            <a:r>
              <a:rPr sz="2000" b="0" dirty="0" err="1">
                <a:solidFill>
                  <a:srgbClr val="2C3E50"/>
                </a:solidFill>
                <a:latin typeface="Calibri"/>
              </a:rPr>
              <a:t>borde</a:t>
            </a:r>
            <a:r>
              <a:rPr sz="2000" b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66F2221-8264-5EFF-1CA1-077F4AC9E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326" y="1695681"/>
            <a:ext cx="5752440" cy="3978703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C42AAA7-E5FC-DACB-45D5-634B7028B53D}"/>
              </a:ext>
            </a:extLst>
          </p:cNvPr>
          <p:cNvSpPr txBox="1"/>
          <p:nvPr/>
        </p:nvSpPr>
        <p:spPr>
          <a:xfrm>
            <a:off x="6080760" y="5323340"/>
            <a:ext cx="217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Cámara estenopeica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7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vecindario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píxel solo no dice si hay un borde: hace falta comparar con los de al lado</a:t>
            </a:r>
          </a:p>
        </p:txBody>
      </p:sp>
      <p:pic>
        <p:nvPicPr>
          <p:cNvPr id="10" name="Picture 9" descr="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507090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Filtro: receta para mezclar un píxel con sus vecinos.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Kernel (máscara): la receta en forma de tablita, p. ej. 3×3.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 el dibujo, el marco dorado es esa tablita sobre la imagen.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Misma receta en cada posición: se desliza.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Eso, cuando la receta es lineal, se llama convolución.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8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Convolución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En cada posición: multiplica casilla a casilla y suma. El resultado es el nuevo I[i, j]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9659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069848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F2C59"/>
                </a:solidFill>
                <a:latin typeface="Calibri"/>
              </a:rPr>
              <a:t>I′[i, j]  =  Σ_u Σ_v  K[u, v]  ·  I[i+u, j+v]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74903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062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El kernel. Lo eliges tú: media, un detector de bordes, nítido. Más adelante, se puede aprender.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374903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Borde de la imagen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2062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El kernel se sale. Práctica: repetir el píxel del borde (pad), o no escribir el marco.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374903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Lineal e invariante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2062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Misma K en todos lados. Un objeto corrido se filtra igual. Eso es lo que queremos al inicio.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9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filtro de media 3×3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escalón 0 | 9. K = 1/9 en las nueve casillas. El borde se «ensucia» a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02920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5840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2768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9696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39696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6624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06624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2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73552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691640"/>
            <a:ext cx="502920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72768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72768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39696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39696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6624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06624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2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3552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057400"/>
            <a:ext cx="502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205740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72768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572768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9696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39696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06624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06624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73552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73552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423160"/>
            <a:ext cx="502920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242316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5840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572768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139696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06624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06624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73552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788920"/>
            <a:ext cx="502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278892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5840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72768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572768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39696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139696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06624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06624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73552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273552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3154680"/>
            <a:ext cx="502920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" y="315468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05840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72768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572768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39696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139696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06624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706624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73552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273552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3703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I  (escalón)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09160" y="132588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Kernel 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09160" y="1664208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709160" y="1664208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0" y="1664208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669280" y="1664208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1664208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629400" y="1664208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709160" y="2048256"/>
            <a:ext cx="96012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709160" y="2048256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0" y="2048256"/>
            <a:ext cx="96012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669280" y="2048256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29400" y="2048256"/>
            <a:ext cx="96012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629400" y="2048256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709160" y="243230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709160" y="2432304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9280" y="243230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669280" y="2432304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29400" y="243230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629400" y="2432304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09160" y="2944368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Sobre el centro (fila 2, col 2), el vecindario es seis 0 y tres 9:  suma 27,  ÷ 9 = 3.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955279" y="1325880"/>
            <a:ext cx="3703320" cy="4709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183879" y="15544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Qué hace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83879" y="2057400"/>
            <a:ext cx="329184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Sustituye cada píxel por el promedio de los 9.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En el salto, el centro ya no es 0 ni 9: sale 3.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Sirve para bajar ruido de un píxel suelto.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El costo: se pierden esquinas nítidas.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10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Suavizar la escena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Misma idea, kernel más grande (media 5×5) sobre la imagen de la diapositiva 3</a:t>
            </a:r>
          </a:p>
        </p:txBody>
      </p:sp>
      <p:pic>
        <p:nvPicPr>
          <p:cNvPr id="10" name="Picture 9" descr="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98448"/>
            <a:ext cx="896112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5961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La media trata igual a todos los vecinos. Una Gaussiana da más peso al centro: suaviza y deforma un poco menos los bordes. Para esta clase, media basta.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11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es un borde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Donde la intensidad cambia de golpe. El perfil de una fila lo muestra antes de elegir un kernel de derivada</a:t>
            </a:r>
          </a:p>
        </p:txBody>
      </p:sp>
      <p:pic>
        <p:nvPicPr>
          <p:cNvPr id="10" name="Picture 9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943600" cy="380197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1371600"/>
            <a:ext cx="507492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600200"/>
            <a:ext cx="4663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Dentro de una región plana, I casi no cambia.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 el contorno del círculo, I cae: eso es el borde.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Derivada alta ⇔ cambio fuerte ⇔ buen candidato a contorno.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 2D hay dirección: horizontal, vertical, diagonal.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 detector de bordes estima esa derivada en cada píxel.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12 / 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Sobel: un kernel para el salto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Dos kernels: Gx estima el cambio horizontal, Gy el vertical. El tamaño del borde es √(Gx² + Gy²)</a:t>
            </a:r>
          </a:p>
        </p:txBody>
      </p:sp>
      <p:pic>
        <p:nvPicPr>
          <p:cNvPr id="10" name="Picture 9" descr="so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7589520" cy="352370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2440" y="1325880"/>
            <a:ext cx="3566160" cy="4709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Gx  (3×3)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−1  0  +1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−2  0  +2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−1  0  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4612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Gy  (3×3)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57600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−1  −2  −1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 0   0   0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+1  +2  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7492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Son convoluciones, igual que la media. Cambia 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44315"/>
            <a:ext cx="1371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es-419" sz="1100" b="0" dirty="0">
                <a:solidFill>
                  <a:srgbClr val="FFFFFF"/>
                </a:solidFill>
                <a:latin typeface="Calibri"/>
              </a:rPr>
              <a:t>3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/ 1</a:t>
            </a:r>
            <a:r>
              <a:rPr lang="es-419" sz="1100" dirty="0">
                <a:solidFill>
                  <a:srgbClr val="FFFFFF"/>
                </a:solidFill>
                <a:latin typeface="Calibri"/>
              </a:rPr>
              <a:t>3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De magnitud a «sí / no»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umbral τ: si la magnitud de Sobel supera τ, marcamos borde. Demasiado bajo = ruido; demasiado alto = agujeros</a:t>
            </a:r>
          </a:p>
        </p:txBody>
      </p:sp>
      <p:pic>
        <p:nvPicPr>
          <p:cNvPr id="10" name="Picture 9" descr="th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4507090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La magnitud de Sobel es continua. Un mapa binario es más fácil de leer.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círculo y el rectángulo aparecen como contornos.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 umbral no es mágico: depende de la luz y del contraste.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Canny (más adelante en la literatura) añade no-máximos y dos umbrales. No lo necesitamos hoy.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Con el contorno ya puedes medir tamaño, o buscar una forma.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1289</Words>
  <Application>Microsoft Macintosh PowerPoint</Application>
  <PresentationFormat>Panorámica</PresentationFormat>
  <Paragraphs>161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3</cp:revision>
  <dcterms:created xsi:type="dcterms:W3CDTF">2013-01-27T09:14:16Z</dcterms:created>
  <dcterms:modified xsi:type="dcterms:W3CDTF">2026-09-04T22:02:18Z</dcterms:modified>
  <cp:category/>
</cp:coreProperties>
</file>